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53D8FB"/>
                </a:solidFill>
              </a:defRPr>
            </a:pPr>
            <a:r>
              <a:t>MolAlign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</a:defRPr>
            </a:pPr>
            <a:r>
              <a:t>分子跨模态对齐数据集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0C0"/>
                </a:solidFill>
              </a:defRPr>
            </a:pPr>
            <a:r>
              <a:t>Molecular Cross-Modal Alignment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8DB87"/>
                </a:solidFill>
              </a:defRPr>
            </a:pPr>
            <a:r>
              <a:t>语料筑基 · AGI4S 前沿语料赛道 | Sci-Align 科学对齐数据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https://github.com/CacinieP/MinerU-AGI4S-Track1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3D8FB"/>
                </a:solidFill>
              </a:defRPr>
            </a:pPr>
            <a:r>
              <a:t>赛题背景与数据范式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8DB87"/>
                </a:solidFill>
              </a:defRPr>
            </a:pPr>
            <a:r>
              <a:t>Sci-Align 科学对齐数据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• 多学科跨模态对齐数据集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• 科学数据间的结构化关联与跨模态一致性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• 科学对象多维一致性表示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• 真正的跨模态科学理解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核心目标：让大模型准确理解「已知科学」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而非进行复杂的探索与推理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8DB87"/>
                </a:solidFill>
              </a:defRPr>
            </a:pPr>
            <a:r>
              <a:t>MinerU 工具链（必须使用）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✓ MinerU API — 批量论文 PDF 解析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✓ MinerU Open Source — 本地解析引擎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✓ MinerU Skills — 化学结构提取技能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✓ MinerU Online — 在线快速解析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要求：构建过程中必须至少使用一项</a:t>
            </a:r>
          </a:p>
          <a:p>
            <a:pPr>
              <a:spcAft>
                <a:spcPts val="800"/>
              </a:spcAft>
              <a:defRPr sz="1500">
                <a:solidFill>
                  <a:srgbClr val="B0B0C0"/>
                </a:solidFill>
              </a:defRPr>
            </a:pPr>
            <a:r>
              <a:t>MinerU 工具链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53D8FB"/>
                </a:solidFill>
              </a:defRPr>
            </a:pPr>
            <a:r>
              <a:t>数据集设计理念：「分子实体中心」对齐范式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920240" cy="16459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🖼️ 分子结构图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0C0"/>
                </a:solidFill>
              </a:defRPr>
            </a:pPr>
            <a:r>
              <a:t>2D/3D 分子结构</a:t>
            </a:r>
            <a:br/>
            <a:r>
              <a:t>可视化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645920"/>
            <a:ext cx="1920240" cy="1645920"/>
          </a:xfrm>
          <a:prstGeom prst="rect">
            <a:avLst/>
          </a:prstGeom>
          <a:solidFill>
            <a:srgbClr val="2D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7373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🔬 分子标识符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28600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0C0"/>
                </a:solidFill>
              </a:defRPr>
            </a:pPr>
            <a:r>
              <a:t>SMILES / InChI</a:t>
            </a:r>
            <a:br/>
            <a:r>
              <a:t>标准化字符串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920240" cy="1645920"/>
          </a:xfrm>
          <a:prstGeom prst="rect">
            <a:avLst/>
          </a:prstGeom>
          <a:solidFill>
            <a:srgbClr val="344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79" y="17373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📛 分子命名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9" y="228600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0C0"/>
                </a:solidFill>
              </a:defRPr>
            </a:pPr>
            <a:r>
              <a:t>IUPAC / 通用名</a:t>
            </a:r>
            <a:br/>
            <a:r>
              <a:t>/ 同义词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199" y="1645920"/>
            <a:ext cx="1920240" cy="1645920"/>
          </a:xfrm>
          <a:prstGeom prst="rect">
            <a:avLst/>
          </a:prstGeom>
          <a:solidFill>
            <a:srgbClr val="3A5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17373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📊 分子属性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28600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0C0"/>
                </a:solidFill>
              </a:defRPr>
            </a:pPr>
            <a:r>
              <a:t>物化参数 / 类药性</a:t>
            </a:r>
            <a:br/>
            <a:r>
              <a:t>/ 实验数据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1645920"/>
            <a:ext cx="1920240" cy="1645920"/>
          </a:xfrm>
          <a:prstGeom prst="rect">
            <a:avLst/>
          </a:prstGeom>
          <a:solidFill>
            <a:srgbClr val="406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17373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📝 科学文本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28600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0C0"/>
                </a:solidFill>
              </a:defRPr>
            </a:pPr>
            <a:r>
              <a:t>合成方法 / 机制</a:t>
            </a:r>
            <a:br/>
            <a:r>
              <a:t>/ 临床应用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8DB87"/>
                </a:solidFill>
              </a:defRPr>
            </a:pPr>
            <a:r>
              <a:t>三大核心创新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B0B0C0"/>
                </a:solidFill>
              </a:defRPr>
            </a:pPr>
            <a:r>
              <a:t>1️⃣ 五模态统一对齐 — 同一分子实体的图、文、数、标、名五类表示在一条记录中完整呈现</a:t>
            </a:r>
          </a:p>
          <a:p>
            <a:pPr>
              <a:spcAft>
                <a:spcPts val="800"/>
              </a:spcAft>
              <a:defRPr sz="1400">
                <a:solidFill>
                  <a:srgbClr val="B0B0C0"/>
                </a:solidFill>
              </a:defRPr>
            </a:pPr>
            <a:r>
              <a:t>2️⃣ 实体关系图谱 — 通过结构化三元组（主语-关系-宾语）描述分子-靶点-代谢物之间的生物学关系</a:t>
            </a:r>
          </a:p>
          <a:p>
            <a:pPr>
              <a:spcAft>
                <a:spcPts val="800"/>
              </a:spcAft>
              <a:defRPr sz="1400">
                <a:solidFill>
                  <a:srgbClr val="B0B0C0"/>
                </a:solidFill>
              </a:defRPr>
            </a:pPr>
            <a:r>
              <a:t>3️⃣ 多来源融合 — PubChem 数据库 + 科学文献论文，实现数据库知识与人可读文本的对齐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3D8FB"/>
                </a:solidFill>
              </a:defRPr>
            </a:pPr>
            <a:r>
              <a:t>数据集统计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94560"/>
                </a:solidFill>
              </a:defRPr>
            </a:pPr>
            <a:r>
              <a:t>120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分子记录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94560"/>
                </a:solidFill>
              </a:defRPr>
            </a:pPr>
            <a: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药物类别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94560"/>
                </a:solidFill>
              </a:defRPr>
            </a:pPr>
            <a: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2D 结构图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94560"/>
                </a:solidFill>
              </a:defRPr>
            </a:pPr>
            <a:r>
              <a:t>99.2%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3D 构象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94560"/>
                </a:solidFill>
              </a:defRPr>
            </a:pPr>
            <a: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MinerU 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94560"/>
                </a:solidFill>
              </a:defRPr>
            </a:pPr>
            <a: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2860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验证通过率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8DB87"/>
                </a:solidFill>
              </a:defRPr>
            </a:pPr>
            <a:r>
              <a:t>类别覆盖（Top 10）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57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抗生素 (8) | 抗癌药 (8)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神经递质 (7) | 激素 (7)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非甾体抗炎药 (6) | 抗抑郁药 (6)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降压药 (6) | 天然产物 (6)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抗病毒药 (5) | 靶向治疗 (5)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... 共 26 个类别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6576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✓ 五模态对齐：图/SMILES/名称/属性/文本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✓ 中英双语科学文本描述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✓ 实体关系三元组（药物-靶点-代谢物）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✓ RDKit 生成 2D/3D 结构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✓ PubChem 公共数据库溯源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✓ 完整 JSON Schema 定义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3D8FB"/>
                </a:solidFill>
              </a:defRPr>
            </a:pPr>
            <a:r>
              <a:t>数据构建技术路线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2560320" cy="3200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3D8FB"/>
                </a:solidFill>
              </a:defRPr>
            </a:pPr>
            <a:r>
              <a:t>阶段1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数据采集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</a:defRPr>
            </a:pPr>
            <a:r>
              <a:t>PubChem REST API</a:t>
            </a:r>
            <a:br/>
            <a:r>
              <a:t>ChEMBL</a:t>
            </a:r>
            <a:br/>
            <a:r>
              <a:t>科学论文 PDF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463040"/>
            <a:ext cx="2560320" cy="3200400"/>
          </a:xfrm>
          <a:prstGeom prst="rect">
            <a:avLst/>
          </a:prstGeom>
          <a:solidFill>
            <a:srgbClr val="1A4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554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3D8FB"/>
                </a:solidFill>
              </a:defRPr>
            </a:pPr>
            <a:r>
              <a:t>阶段2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MinerU 解析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</a:defRPr>
            </a:pPr>
            <a:r>
              <a:t>PDF → 结构化文本</a:t>
            </a:r>
            <a:br/>
            <a:r>
              <a:t>分子结构图提取</a:t>
            </a:r>
            <a:br/>
            <a:r>
              <a:t>实验表格提取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63040"/>
            <a:ext cx="2560320" cy="3200400"/>
          </a:xfrm>
          <a:prstGeom prst="rect">
            <a:avLst/>
          </a:prstGeom>
          <a:solidFill>
            <a:srgbClr val="1A5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554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3D8FB"/>
                </a:solidFill>
              </a:defRPr>
            </a:pPr>
            <a:r>
              <a:t>阶段3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跨模态对齐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</a:defRPr>
            </a:pPr>
            <a:r>
              <a:t>SMILES ↔ 2D图 (RDKit)</a:t>
            </a:r>
            <a:br/>
            <a:r>
              <a:t>图片 → SMILES (OCSR)</a:t>
            </a:r>
            <a:br/>
            <a:r>
              <a:t>文本 → 分子 (NER)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1463040"/>
            <a:ext cx="2560320" cy="3200400"/>
          </a:xfrm>
          <a:prstGeom prst="rect">
            <a:avLst/>
          </a:prstGeom>
          <a:solidFill>
            <a:srgbClr val="1A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1554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53D8FB"/>
                </a:solidFill>
              </a:defRPr>
            </a:pPr>
            <a:r>
              <a:t>阶段4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920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质量控制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4688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0C0"/>
                </a:solidFill>
              </a:defRPr>
            </a:pPr>
            <a:r>
              <a:t>SMILES 验证</a:t>
            </a:r>
            <a:br/>
            <a:r>
              <a:t>属性交叉校验</a:t>
            </a:r>
            <a:br/>
            <a:r>
              <a:t>Schema 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8DB87"/>
                </a:solidFill>
              </a:defRPr>
            </a:pPr>
            <a:r>
              <a:t>工具链依赖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77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RDKit (分子处理) | PubChem REST API (数据获取) | MinerU (PDF 解析) | MolScribe/DECIMER (图片识别) | ChemDataExtractor (NER)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3D8FB"/>
                </a:solidFill>
              </a:defRPr>
            </a:pPr>
            <a:r>
              <a:t>MinerU 工具链集成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2286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3D8FB"/>
                </a:solidFill>
              </a:defRPr>
            </a:pPr>
            <a:r>
              <a:t>MinerU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46304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REST API 批量解析论文</a:t>
            </a:r>
            <a:br/>
            <a:r>
              <a:t>提取分子结构图和活性数据表格</a:t>
            </a:r>
            <a:br/>
            <a:r>
              <a:t>异步任务模式，支持大规模处理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51760"/>
            <a:ext cx="2286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3D8FB"/>
                </a:solidFill>
              </a:defRPr>
            </a:pPr>
            <a:r>
              <a:t>MinerU Open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7432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magic-pdf 本地解析</a:t>
            </a:r>
            <a:br/>
            <a:r>
              <a:t>Markdown + 图片 + 表格输出</a:t>
            </a:r>
            <a:br/>
            <a:r>
              <a:t>CPU/GPU 双模式支持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31920"/>
            <a:ext cx="2286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3D8FB"/>
                </a:solidFill>
              </a:defRPr>
            </a:pPr>
            <a:r>
              <a:t>MinerU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4023359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化学结构提取技能</a:t>
            </a:r>
            <a:br/>
            <a:r>
              <a:t>分子图原子-化学键映射</a:t>
            </a:r>
            <a:br/>
            <a:r>
              <a:t>反应方程式识别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212079"/>
            <a:ext cx="2286000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492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53D8FB"/>
                </a:solidFill>
              </a:defRPr>
            </a:pPr>
            <a:r>
              <a:t>MinerU Online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303519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mineru.net 网页端</a:t>
            </a:r>
            <a:br/>
            <a:r>
              <a:t>快速解析特定论文</a:t>
            </a:r>
            <a:br/>
            <a:r>
              <a:t>支持多种文档格式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8DB87"/>
                </a:solidFill>
              </a:defRPr>
            </a:pPr>
            <a:r>
              <a:t>✓ 120/120 条数据记录均包含 MinerU 使用记录，覆盖率 100%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53D8FB"/>
                </a:solidFill>
              </a:defRPr>
            </a:pPr>
            <a:r>
              <a:t>数据样例：Aspirin (MOL-000001)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8DB87"/>
                </a:solidFill>
              </a:defRPr>
            </a:pPr>
            <a:r>
              <a:t>分子标识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SMILES: CC(=O)OC1=CC=CC=C1C(=O)O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IUPAC: 2-acetyloxybenzoic acid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PubChem CID: 2244 | CAS: 50-78-2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MW: 180.16 | LogP: 1.19 | TPSA: 63.6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2D图 ✓ | 3D SDF ✓ | MinerU 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8DB87"/>
                </a:solidFill>
              </a:defRPr>
            </a:pPr>
            <a:r>
              <a:t>实体关系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97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Aspirin → inhibits → COX-1 (conf: 0.99)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Aspirin → inhibits → COX-2 (conf: 0.99)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Aspirin → metabolized_to → salicylic acid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Aspirin → has_substructure → benzoic acid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8DB87"/>
                </a:solidFill>
              </a:defRPr>
            </a:pPr>
            <a:r>
              <a:t>科学文本描述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[EN] Aspirin, also known as acetylsalicylic acid, is a NSAID used to reduce pain, fever, and inflammation...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[ZH] 阿司匹林（乙酰水杨酸）是非甾体抗炎药的代表药物，通过不可逆地乙酰化COX酶...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• 来源: PubChem CID 2244 + 手工整理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• 支持中英文双语</a:t>
            </a:r>
          </a:p>
          <a:p>
            <a:pPr>
              <a:spcAft>
                <a:spcPts val="800"/>
              </a:spcAft>
              <a:defRPr sz="1300">
                <a:solidFill>
                  <a:srgbClr val="B0B0C0"/>
                </a:solidFill>
              </a:defRPr>
            </a:pPr>
            <a:r>
              <a:t>• 可直接用于 LLM 训练/评测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3D8FB"/>
                </a:solidFill>
              </a:defRPr>
            </a:pPr>
            <a:r>
              <a:t>竞赛评审维度对标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跨模态理解 (20)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五模态对齐 + 实体关系图谱 + 中英双语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94560"/>
                </a:solidFill>
              </a:defRPr>
            </a:pPr>
            <a:r>
              <a:t>14-16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创新性 (15)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468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「分子实体中心」范式 + 26 类药物覆盖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2468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94560"/>
                </a:solidFill>
              </a:defRPr>
            </a:pPr>
            <a:r>
              <a:t>10-12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AI-Ready (30)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严格 JSON Schema + 100% 验证 + LLM 可用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3474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94560"/>
                </a:solidFill>
              </a:defRPr>
            </a:pPr>
            <a:r>
              <a:t>18-22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工程质量 (20)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全自动 Pipeline + MinerU 四模式集成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4480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94560"/>
                </a:solidFill>
              </a:defRPr>
            </a:pPr>
            <a:r>
              <a:t>14-16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开放共享 (15)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5486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0C0"/>
                </a:solidFill>
              </a:defRPr>
            </a:pPr>
            <a:r>
              <a:t>GitHub + CC-BY-4.0 + 完整文档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486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94560"/>
                </a:solidFill>
              </a:defRPr>
            </a:pPr>
            <a:r>
              <a:t>8-10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53D8FB"/>
                </a:solidFill>
              </a:defRPr>
            </a:pPr>
            <a:r>
              <a:t>预估总分: 64-76 / 100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53D8FB"/>
                </a:solidFill>
              </a:defRPr>
            </a:pPr>
            <a:r>
              <a:t>MolAlign 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面向 AI4S 的分子跨模态对齐数据集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0175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🔬 120 个分子 · 26 个药物类别 · 五模态对齐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🧬 中英双语科学文本 · 实体关系图谱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🤖 严格 JSON Schema · 100% 自动化验证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📐 RDKit 2D/3D 结构 · PubChem 公共数据溯源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📦 MinerU 四种工具链全覆盖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📄 完整技术报告 · 开源代码 · 可复现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8DB87"/>
                </a:solidFill>
              </a:defRPr>
            </a:pPr>
            <a:r>
              <a:t>https://github.com/CacinieP/MinerU-AGI4S-Track1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0C0"/>
                </a:solidFill>
              </a:defRPr>
            </a:pPr>
            <a:r>
              <a:t>开源协议: CC-BY-4.0 | 数据范式: Sci-Align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